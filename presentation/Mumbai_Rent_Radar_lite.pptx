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1" y="0"/>
            <a:ext cx="1212783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103120"/>
            <a:ext cx="731520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03120"/>
            <a:ext cx="201168" cy="2743200"/>
          </a:xfrm>
          <a:prstGeom prst="rect">
            <a:avLst/>
          </a:prstGeom>
          <a:solidFill>
            <a:srgbClr val="E67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67817"/>
                </a:solidFill>
                <a:latin typeface="Arial"/>
              </a:rPr>
              <a:t>THE OUTLIERS  ·  IIT MANDI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6766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2E2A29"/>
                </a:solidFill>
                <a:latin typeface="Arial"/>
              </a:rPr>
              <a:t>Mumbai Rent Radar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1">
                <a:solidFill>
                  <a:srgbClr val="4D4948"/>
                </a:solidFill>
                <a:latin typeface="Arial"/>
              </a:rPr>
              <a:t>What should a flat actually cost? — the short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434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D4948"/>
                </a:solidFill>
                <a:latin typeface="Arial"/>
              </a:rPr>
              <a:t>Akshara · Prashasthi · Sudarshan</a:t>
            </a:r>
          </a:p>
        </p:txBody>
      </p:sp>
      <p:pic>
        <p:nvPicPr>
          <p:cNvPr id="9" name="Picture 8" descr="iit_mand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5806440"/>
            <a:ext cx="684089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009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943E"/>
                </a:solidFill>
                <a:latin typeface="Arial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Rent is about how big, not just 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65836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600" b="1" i="0">
                <a:solidFill>
                  <a:srgbClr val="2E2A29"/>
                </a:solidFill>
                <a:latin typeface="Arial"/>
              </a:rPr>
              <a:t>Size &amp; bedrooms drive rent  </a:t>
            </a:r>
            <a:r>
              <a:rPr sz="1600" b="0" i="0">
                <a:solidFill>
                  <a:srgbClr val="4D4948"/>
                </a:solidFill>
                <a:latin typeface="Arial"/>
              </a:rPr>
              <a:t>— location barely moves it.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600" b="1" i="0">
                <a:solidFill>
                  <a:srgbClr val="2E2A29"/>
                </a:solidFill>
                <a:latin typeface="Arial"/>
              </a:rPr>
              <a:t>Amenities ≈ 0  </a:t>
            </a:r>
            <a:r>
              <a:rPr sz="1600" b="0" i="0">
                <a:solidFill>
                  <a:srgbClr val="4D4948"/>
                </a:solidFill>
                <a:latin typeface="Arial"/>
              </a:rPr>
              <a:t>— metro, schools, hospitals don't predict rent.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600" b="1" i="0">
                <a:solidFill>
                  <a:srgbClr val="2E2A29"/>
                </a:solidFill>
                <a:latin typeface="Arial"/>
              </a:rPr>
              <a:t>Operational metro isn't a premium  </a:t>
            </a:r>
            <a:r>
              <a:rPr sz="1600" b="0" i="0">
                <a:solidFill>
                  <a:srgbClr val="4D4948"/>
                </a:solidFill>
                <a:latin typeface="Arial"/>
              </a:rPr>
              <a:t>— it's slightly cheaper.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600" b="1" i="0">
                <a:solidFill>
                  <a:srgbClr val="2E2A29"/>
                </a:solidFill>
                <a:latin typeface="Arial"/>
              </a:rPr>
              <a:t>Bigger flats cost more per sq ft  </a:t>
            </a:r>
            <a:r>
              <a:rPr sz="1600" b="0" i="0">
                <a:solidFill>
                  <a:srgbClr val="4D4948"/>
                </a:solidFill>
                <a:latin typeface="Arial"/>
              </a:rPr>
              <a:t>— luxury clusters in premium pockets.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37744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0943E"/>
                </a:solidFill>
                <a:latin typeface="Arial"/>
              </a:rPr>
              <a:t>0.70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94436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model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37744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67817"/>
                </a:solidFill>
                <a:latin typeface="Arial"/>
              </a:rPr>
              <a:t>~27%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294436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typical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2377440"/>
            <a:ext cx="1463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094E0"/>
                </a:solidFill>
                <a:latin typeface="Arial"/>
              </a:rPr>
              <a:t>5,050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944368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listings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E67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67817"/>
                </a:solidFill>
                <a:latin typeface="Arial"/>
              </a:rPr>
              <a:t>THE SURPRISE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Location barely moves the 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pic>
        <p:nvPicPr>
          <p:cNvPr id="8" name="Picture 7" descr="04_corr_with_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736374"/>
            <a:ext cx="5943600" cy="3202370"/>
          </a:xfrm>
          <a:prstGeom prst="rect">
            <a:avLst/>
          </a:prstGeom>
        </p:spPr>
      </p:pic>
      <p:pic>
        <p:nvPicPr>
          <p:cNvPr id="9" name="Picture 8" descr="04_metro_parado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59403"/>
            <a:ext cx="5577840" cy="30819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009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94E0"/>
                </a:solidFill>
                <a:latin typeface="Arial"/>
              </a:rPr>
              <a:t>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Benchmarked seven; the best one wins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pic>
        <p:nvPicPr>
          <p:cNvPr id="8" name="Picture 7" descr="06_pred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26" y="1371599"/>
            <a:ext cx="4683666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645920"/>
            <a:ext cx="56692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Tuned Random Forest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chosen on unseen-flat accuracy.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R² ≈ 0.70, error ~27%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reliable under ₹1L, looser for luxury.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Believable, not perfect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we caught a leak that faked R² &gt; 0.9.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009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943E"/>
                </a:solidFill>
                <a:latin typeface="Arial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A mispriced-listing radar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pic>
        <p:nvPicPr>
          <p:cNvPr id="8" name="Picture 7" descr="08_mispriced_det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83079"/>
            <a:ext cx="5943600" cy="3200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1554480"/>
            <a:ext cx="5303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Fair rent vs listed rent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= the deal signal.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500" b="1" i="0">
                <a:solidFill>
                  <a:srgbClr val="2E2A29"/>
                </a:solidFill>
                <a:latin typeface="Arial"/>
              </a:rPr>
              <a:t>Bargains &amp; overpriced flats  </a:t>
            </a:r>
            <a:r>
              <a:rPr sz="1500" b="0" i="0">
                <a:solidFill>
                  <a:srgbClr val="4D4948"/>
                </a:solidFill>
                <a:latin typeface="Arial"/>
              </a:rPr>
              <a:t>flagged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E67817"/>
                </a:solidFill>
                <a:latin typeface="Arial"/>
              </a:rPr>
              <a:t>221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7316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overpriced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206240"/>
            <a:ext cx="2194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0943E"/>
                </a:solidFill>
                <a:latin typeface="Arial"/>
              </a:rPr>
              <a:t>117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77316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4D4948"/>
                </a:solidFill>
                <a:latin typeface="Arial"/>
              </a:rPr>
              <a:t>bargains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143000"/>
          </a:xfrm>
          <a:prstGeom prst="rect">
            <a:avLst/>
          </a:prstGeom>
          <a:solidFill>
            <a:srgbClr val="009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1800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0943E"/>
                </a:solidFill>
                <a:latin typeface="Arial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1800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E2A29"/>
                </a:solidFill>
                <a:latin typeface="Arial"/>
              </a:rPr>
              <a:t>What to do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42415"/>
            <a:ext cx="11185855" cy="18288"/>
          </a:xfrm>
          <a:prstGeom prst="rect">
            <a:avLst/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it_mand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495" y="256032"/>
            <a:ext cx="684089" cy="548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109728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700" b="1" i="0">
                <a:solidFill>
                  <a:srgbClr val="2E2A29"/>
                </a:solidFill>
                <a:latin typeface="Arial"/>
              </a:rPr>
              <a:t>Ship the fair-rent estimate for the mass market (&lt;₹1L)  </a:t>
            </a:r>
            <a:r>
              <a:rPr sz="1700" b="0" i="0">
                <a:solidFill>
                  <a:srgbClr val="4D4948"/>
                </a:solidFill>
                <a:latin typeface="Arial"/>
              </a:rPr>
              <a:t>— human-review the luxury tail.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700" b="1" i="0">
                <a:solidFill>
                  <a:srgbClr val="2E2A29"/>
                </a:solidFill>
                <a:latin typeface="Arial"/>
              </a:rPr>
              <a:t>Launch the mispriced-listing detector  </a:t>
            </a:r>
            <a:r>
              <a:rPr sz="1700" b="0" i="0">
                <a:solidFill>
                  <a:srgbClr val="4D4948"/>
                </a:solidFill>
                <a:latin typeface="Arial"/>
              </a:rPr>
              <a:t>— the fastest win for renters.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700" b="1" i="0">
                <a:solidFill>
                  <a:srgbClr val="2E2A29"/>
                </a:solidFill>
                <a:latin typeface="Arial"/>
              </a:rPr>
              <a:t>Price by size first, location second  </a:t>
            </a:r>
            <a:r>
              <a:rPr sz="1700" b="0" i="0">
                <a:solidFill>
                  <a:srgbClr val="4D4948"/>
                </a:solidFill>
                <a:latin typeface="Arial"/>
              </a:rPr>
              <a:t>— the data is clear.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500" b="1" i="0">
                <a:solidFill>
                  <a:srgbClr val="00943E"/>
                </a:solidFill>
                <a:latin typeface="Arial"/>
              </a:rPr>
              <a:t>▸  </a:t>
            </a:r>
            <a:r>
              <a:rPr sz="1700" b="1" i="0">
                <a:solidFill>
                  <a:srgbClr val="2E2A29"/>
                </a:solidFill>
                <a:latin typeface="Arial"/>
              </a:rPr>
              <a:t>Refresh the data and invest in better features  </a:t>
            </a:r>
            <a:r>
              <a:rPr sz="1700" b="0" i="0">
                <a:solidFill>
                  <a:srgbClr val="4D4948"/>
                </a:solidFill>
                <a:latin typeface="Arial"/>
              </a:rPr>
              <a:t>— not more 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8A8887"/>
                </a:solidFill>
                <a:latin typeface="Arial"/>
              </a:rPr>
              <a:t>The Outliers  ·  Mumbai Rent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8A888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