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708" y="22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r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1" y="0"/>
            <a:ext cx="12127831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965960"/>
            <a:ext cx="7315200" cy="297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201168" cy="2971800"/>
          </a:xfrm>
          <a:prstGeom prst="rect">
            <a:avLst/>
          </a:prstGeom>
          <a:solidFill>
            <a:srgbClr val="E67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658368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dirty="0">
                <a:solidFill>
                  <a:srgbClr val="E67817"/>
                </a:solidFill>
                <a:latin typeface="Arial"/>
              </a:rPr>
              <a:t>THE OUTLIERS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67665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2E2A29"/>
                </a:solidFill>
                <a:latin typeface="Arial"/>
              </a:rPr>
              <a:t>Mumbai Rent Radar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6583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4D4948"/>
                </a:solidFill>
                <a:latin typeface="Arial"/>
              </a:rPr>
              <a:t>What should a flat </a:t>
            </a:r>
            <a:r>
              <a:rPr sz="2000" b="1" i="1">
                <a:solidFill>
                  <a:srgbClr val="00943E"/>
                </a:solidFill>
                <a:latin typeface="Arial"/>
              </a:rPr>
              <a:t>actually</a:t>
            </a:r>
            <a:r>
              <a:rPr sz="2000" b="0" i="0">
                <a:solidFill>
                  <a:srgbClr val="4D4948"/>
                </a:solidFill>
                <a:latin typeface="Arial"/>
              </a:rPr>
              <a:t> cost?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43400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4D4948"/>
                </a:solidFill>
                <a:latin typeface="Arial"/>
              </a:rPr>
              <a:t>Akshara   ·   Prashasthi   ·   Sudarshan</a:t>
            </a:r>
          </a:p>
        </p:txBody>
      </p:sp>
      <p:pic>
        <p:nvPicPr>
          <p:cNvPr id="9" name="Picture 8" descr="iit_mand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5806440"/>
            <a:ext cx="684089" cy="5486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1174A0F-6AF0-258E-E4EB-85CB93915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" y="45720"/>
            <a:ext cx="1254276" cy="100592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C09BF61-CB69-8685-4A6D-40C71992C6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48184" y="104236"/>
            <a:ext cx="108585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143000"/>
          </a:xfrm>
          <a:prstGeom prst="rect">
            <a:avLst/>
          </a:prstGeom>
          <a:solidFill>
            <a:srgbClr val="009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1800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0943E"/>
                </a:solidFill>
                <a:latin typeface="Arial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1800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 dirty="0">
                <a:solidFill>
                  <a:srgbClr val="2E2A29"/>
                </a:solidFill>
                <a:latin typeface="Arial"/>
              </a:rPr>
              <a:t>The same 2BHK, ten different prices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42415"/>
            <a:ext cx="11185855" cy="18288"/>
          </a:xfrm>
          <a:prstGeom prst="rect">
            <a:avLst/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it_mand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256032"/>
            <a:ext cx="684089" cy="548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463040"/>
            <a:ext cx="5669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500" b="1" i="0">
                <a:solidFill>
                  <a:srgbClr val="00943E"/>
                </a:solidFill>
                <a:latin typeface="Arial"/>
              </a:rPr>
              <a:t>▸  </a:t>
            </a:r>
            <a:r>
              <a:rPr sz="1600" b="1" i="0">
                <a:solidFill>
                  <a:srgbClr val="2E2A29"/>
                </a:solidFill>
                <a:latin typeface="Arial"/>
              </a:rPr>
              <a:t>The question:  </a:t>
            </a:r>
            <a:r>
              <a:rPr sz="1600" b="0" i="0">
                <a:solidFill>
                  <a:srgbClr val="4D4948"/>
                </a:solidFill>
                <a:latin typeface="Arial"/>
              </a:rPr>
              <a:t>every Mumbai tenant asks what a flat should really cost.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500" b="1" i="0">
                <a:solidFill>
                  <a:srgbClr val="00943E"/>
                </a:solidFill>
                <a:latin typeface="Arial"/>
              </a:rPr>
              <a:t>▸  </a:t>
            </a:r>
            <a:r>
              <a:rPr sz="1600" b="1" i="0">
                <a:solidFill>
                  <a:srgbClr val="2E2A29"/>
                </a:solidFill>
                <a:latin typeface="Arial"/>
              </a:rPr>
              <a:t>The noise:  </a:t>
            </a:r>
            <a:r>
              <a:rPr sz="1600" b="0" i="0">
                <a:solidFill>
                  <a:srgbClr val="4D4948"/>
                </a:solidFill>
                <a:latin typeface="Arial"/>
              </a:rPr>
              <a:t>identical flats are advertised at wildly different rents.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500" b="1" i="0">
                <a:solidFill>
                  <a:srgbClr val="00943E"/>
                </a:solidFill>
                <a:latin typeface="Arial"/>
              </a:rPr>
              <a:t>▸  </a:t>
            </a:r>
            <a:r>
              <a:rPr sz="1600" b="1" i="0">
                <a:solidFill>
                  <a:srgbClr val="2E2A29"/>
                </a:solidFill>
                <a:latin typeface="Arial"/>
              </a:rPr>
              <a:t>Our job:  </a:t>
            </a:r>
            <a:r>
              <a:rPr sz="1600" b="0" i="0">
                <a:solidFill>
                  <a:srgbClr val="4D4948"/>
                </a:solidFill>
                <a:latin typeface="Arial"/>
              </a:rPr>
              <a:t>build a fair-rent model and flag listings that look mispriced.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554480"/>
            <a:ext cx="5120640" cy="3566160"/>
          </a:xfrm>
          <a:prstGeom prst="rect">
            <a:avLst/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0" y="18288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67817"/>
                </a:solidFill>
                <a:latin typeface="Arial"/>
              </a:rPr>
              <a:t>THE ANSWER, IN ONE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286000"/>
            <a:ext cx="45720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0" i="0">
                <a:solidFill>
                  <a:srgbClr val="2E2A29"/>
                </a:solidFill>
                <a:latin typeface="Arial"/>
              </a:rPr>
              <a:t>Rent is set by </a:t>
            </a:r>
            <a:r>
              <a:rPr sz="1900" b="1" i="0">
                <a:solidFill>
                  <a:srgbClr val="00943E"/>
                </a:solidFill>
                <a:latin typeface="Arial"/>
              </a:rPr>
              <a:t>how big</a:t>
            </a:r>
            <a:r>
              <a:rPr sz="1900" b="0" i="0">
                <a:solidFill>
                  <a:srgbClr val="2E2A29"/>
                </a:solidFill>
                <a:latin typeface="Arial"/>
              </a:rPr>
              <a:t> a flat is —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0" i="0">
                <a:solidFill>
                  <a:srgbClr val="2E2A29"/>
                </a:solidFill>
                <a:latin typeface="Arial"/>
              </a:rPr>
              <a:t>far more than </a:t>
            </a:r>
            <a:r>
              <a:rPr sz="1900" b="1" i="0">
                <a:solidFill>
                  <a:srgbClr val="E67817"/>
                </a:solidFill>
                <a:latin typeface="Arial"/>
              </a:rPr>
              <a:t>where</a:t>
            </a:r>
            <a:r>
              <a:rPr sz="1900" b="0" i="0">
                <a:solidFill>
                  <a:srgbClr val="2E2A29"/>
                </a:solidFill>
                <a:latin typeface="Arial"/>
              </a:rPr>
              <a:t> it is.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800" b="0" i="0">
                <a:solidFill>
                  <a:srgbClr val="2E2A29"/>
                </a:solidFill>
                <a:latin typeface="Arial"/>
              </a:rPr>
              <a:t> 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4D4948"/>
                </a:solidFill>
                <a:latin typeface="Arial"/>
              </a:rPr>
              <a:t>We predict a fair rent within ~27% for ordinary flats and flag the mispriced ones.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8887"/>
                </a:solidFill>
                <a:latin typeface="Arial"/>
              </a:rPr>
              <a:t>The Outliers  ·  Mumbai Rent Radar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8A8887"/>
                </a:solidFill>
                <a:latin typeface="Arial"/>
              </a:rPr>
              <a:t>2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9453239C-B460-FB04-AE81-5B2B130A93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0246" y="6135624"/>
            <a:ext cx="416627" cy="1461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143000"/>
          </a:xfrm>
          <a:prstGeom prst="rect">
            <a:avLst/>
          </a:prstGeom>
          <a:solidFill>
            <a:srgbClr val="009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1800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094E0"/>
                </a:solidFill>
                <a:latin typeface="Arial"/>
              </a:rPr>
              <a:t>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1800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E2A29"/>
                </a:solidFill>
                <a:latin typeface="Arial"/>
              </a:rPr>
              <a:t>From messy listings to a table we can trust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42415"/>
            <a:ext cx="11185855" cy="18288"/>
          </a:xfrm>
          <a:prstGeom prst="rect">
            <a:avLst/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it_mand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256032"/>
            <a:ext cx="684089" cy="548640"/>
          </a:xfrm>
          <a:prstGeom prst="rect">
            <a:avLst/>
          </a:prstGeom>
        </p:spPr>
      </p:pic>
      <p:pic>
        <p:nvPicPr>
          <p:cNvPr id="8" name="Picture 7" descr="01_before_after_catego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845720"/>
            <a:ext cx="5852160" cy="30751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1463040"/>
            <a:ext cx="53949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00943E"/>
                </a:solidFill>
                <a:latin typeface="Arial"/>
              </a:rPr>
              <a:t>▸  </a:t>
            </a:r>
            <a:r>
              <a:rPr sz="1450" b="1" i="0">
                <a:solidFill>
                  <a:srgbClr val="2E2A29"/>
                </a:solidFill>
                <a:latin typeface="Arial"/>
              </a:rPr>
              <a:t>5,100 → 5,050 listings  </a:t>
            </a:r>
            <a:r>
              <a:rPr sz="1450" b="0" i="0">
                <a:solidFill>
                  <a:srgbClr val="4D4948"/>
                </a:solidFill>
                <a:latin typeface="Arial"/>
              </a:rPr>
              <a:t>after removing duplicates.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00943E"/>
                </a:solidFill>
                <a:latin typeface="Arial"/>
              </a:rPr>
              <a:t>▸  </a:t>
            </a:r>
            <a:r>
              <a:rPr sz="1450" b="1" i="0">
                <a:solidFill>
                  <a:srgbClr val="2E2A29"/>
                </a:solidFill>
                <a:latin typeface="Arial"/>
              </a:rPr>
              <a:t>6 fields  </a:t>
            </a:r>
            <a:r>
              <a:rPr sz="1450" b="0" i="0">
                <a:solidFill>
                  <a:srgbClr val="4D4948"/>
                </a:solidFill>
                <a:latin typeface="Arial"/>
              </a:rPr>
              <a:t>collapsed from dozens of spellings to real categories.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00943E"/>
                </a:solidFill>
                <a:latin typeface="Arial"/>
              </a:rPr>
              <a:t>▸  </a:t>
            </a:r>
            <a:r>
              <a:rPr sz="1450" b="1" i="0">
                <a:solidFill>
                  <a:srgbClr val="2E2A29"/>
                </a:solidFill>
                <a:latin typeface="Arial"/>
              </a:rPr>
              <a:t>Prices unlocked  </a:t>
            </a:r>
            <a:r>
              <a:rPr sz="1450" b="0" i="0">
                <a:solidFill>
                  <a:srgbClr val="4D4948"/>
                </a:solidFill>
                <a:latin typeface="Arial"/>
              </a:rPr>
              <a:t>from text like ₹1,47,500, 50k and 40,000/-.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00943E"/>
                </a:solidFill>
                <a:latin typeface="Arial"/>
              </a:rPr>
              <a:t>▸  </a:t>
            </a:r>
            <a:r>
              <a:rPr sz="1450" b="1" i="0">
                <a:solidFill>
                  <a:srgbClr val="2E2A29"/>
                </a:solidFill>
                <a:latin typeface="Arial"/>
              </a:rPr>
              <a:t>98% join  </a:t>
            </a:r>
            <a:r>
              <a:rPr sz="1450" b="0" i="0">
                <a:solidFill>
                  <a:srgbClr val="4D4948"/>
                </a:solidFill>
                <a:latin typeface="Arial"/>
              </a:rPr>
              <a:t>to a locality attributes 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26280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00943E"/>
                </a:solidFill>
                <a:latin typeface="Arial"/>
              </a:rPr>
              <a:t>5,050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093208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D4948"/>
                </a:solidFill>
                <a:latin typeface="Arial"/>
              </a:rPr>
              <a:t>clean listings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4526280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0094E0"/>
                </a:solidFill>
                <a:latin typeface="Arial"/>
              </a:rPr>
              <a:t>98%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5093208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D4948"/>
                </a:solidFill>
                <a:latin typeface="Arial"/>
              </a:rPr>
              <a:t>locality 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4526280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67817"/>
                </a:solidFill>
                <a:latin typeface="Arial"/>
              </a:rPr>
              <a:t>10.8%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5093208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D4948"/>
                </a:solidFill>
                <a:latin typeface="Arial"/>
              </a:rPr>
              <a:t>gaps imputed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8887"/>
                </a:solidFill>
                <a:latin typeface="Arial"/>
              </a:rPr>
              <a:t>The Outliers  ·  Mumbai Rent Radar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8A8887"/>
                </a:solidFill>
                <a:latin typeface="Arial"/>
              </a:rPr>
              <a:t>3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1BEA2BB0-2FCB-7C72-E4CD-519EFA5B2E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30246" y="6135624"/>
            <a:ext cx="416627" cy="1461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143000"/>
          </a:xfrm>
          <a:prstGeom prst="rect">
            <a:avLst/>
          </a:prstGeom>
          <a:solidFill>
            <a:srgbClr val="E67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1800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67817"/>
                </a:solidFill>
                <a:latin typeface="Arial"/>
              </a:rPr>
              <a:t>THE SHAPE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1800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E2A29"/>
                </a:solidFill>
                <a:latin typeface="Arial"/>
              </a:rPr>
              <a:t>Rent is skewed — most flats are affordable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42415"/>
            <a:ext cx="11185855" cy="18288"/>
          </a:xfrm>
          <a:prstGeom prst="rect">
            <a:avLst/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it_mand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256032"/>
            <a:ext cx="684089" cy="548640"/>
          </a:xfrm>
          <a:prstGeom prst="rect">
            <a:avLst/>
          </a:prstGeom>
        </p:spPr>
      </p:pic>
      <p:pic>
        <p:nvPicPr>
          <p:cNvPr id="8" name="Picture 7" descr="03_ren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39111"/>
            <a:ext cx="7589520" cy="2871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0" y="1737360"/>
            <a:ext cx="35661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00943E"/>
                </a:solidFill>
                <a:latin typeface="Arial"/>
              </a:rPr>
              <a:t>▸  </a:t>
            </a:r>
            <a:r>
              <a:rPr sz="1400" b="1" i="0">
                <a:solidFill>
                  <a:srgbClr val="2E2A29"/>
                </a:solidFill>
                <a:latin typeface="Arial"/>
              </a:rPr>
              <a:t>Median ₹55k  </a:t>
            </a:r>
            <a:r>
              <a:rPr sz="1400" b="0" i="0">
                <a:solidFill>
                  <a:srgbClr val="4D4948"/>
                </a:solidFill>
                <a:latin typeface="Arial"/>
              </a:rPr>
              <a:t>but the mean is ₹92k — a long luxury tail.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00943E"/>
                </a:solidFill>
                <a:latin typeface="Arial"/>
              </a:rPr>
              <a:t>▸  </a:t>
            </a:r>
            <a:r>
              <a:rPr sz="1400" b="1" i="0">
                <a:solidFill>
                  <a:srgbClr val="2E2A29"/>
                </a:solidFill>
                <a:latin typeface="Arial"/>
              </a:rPr>
              <a:t>We model log(rent)  </a:t>
            </a:r>
            <a:r>
              <a:rPr sz="1400" b="0" i="0">
                <a:solidFill>
                  <a:srgbClr val="4D4948"/>
                </a:solidFill>
                <a:latin typeface="Arial"/>
              </a:rPr>
              <a:t>so a ₹10k miss is judged fairly at every price.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00943E"/>
                </a:solidFill>
                <a:latin typeface="Arial"/>
              </a:rPr>
              <a:t>▸  </a:t>
            </a:r>
            <a:r>
              <a:rPr sz="1400" b="1" i="0">
                <a:solidFill>
                  <a:srgbClr val="2E2A29"/>
                </a:solidFill>
                <a:latin typeface="Arial"/>
              </a:rPr>
              <a:t>Errors reported  </a:t>
            </a:r>
            <a:r>
              <a:rPr sz="1400" b="0" i="0">
                <a:solidFill>
                  <a:srgbClr val="4D4948"/>
                </a:solidFill>
                <a:latin typeface="Arial"/>
              </a:rPr>
              <a:t>back in rupees for the decision owner.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8887"/>
                </a:solidFill>
                <a:latin typeface="Arial"/>
              </a:rPr>
              <a:t>The Outliers  ·  Mumbai Rent Radar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8A8887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143000"/>
          </a:xfrm>
          <a:prstGeom prst="rect">
            <a:avLst/>
          </a:prstGeom>
          <a:solidFill>
            <a:srgbClr val="009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1800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0943E"/>
                </a:solidFill>
                <a:latin typeface="Arial"/>
              </a:rPr>
              <a:t>THE SURPRISE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1800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E2A29"/>
                </a:solidFill>
                <a:latin typeface="Arial"/>
              </a:rPr>
              <a:t>In a location-obsessed city, location barely moves rent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42415"/>
            <a:ext cx="11185855" cy="18288"/>
          </a:xfrm>
          <a:prstGeom prst="rect">
            <a:avLst/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it_mand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256032"/>
            <a:ext cx="684089" cy="548640"/>
          </a:xfrm>
          <a:prstGeom prst="rect">
            <a:avLst/>
          </a:prstGeom>
        </p:spPr>
      </p:pic>
      <p:pic>
        <p:nvPicPr>
          <p:cNvPr id="8" name="Picture 7" descr="04_corr_with_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" y="1736374"/>
            <a:ext cx="5943600" cy="3202370"/>
          </a:xfrm>
          <a:prstGeom prst="rect">
            <a:avLst/>
          </a:prstGeom>
        </p:spPr>
      </p:pic>
      <p:pic>
        <p:nvPicPr>
          <p:cNvPr id="9" name="Picture 8" descr="04_metro_parad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59403"/>
            <a:ext cx="5577840" cy="30819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4406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4D4948"/>
                </a:solidFill>
                <a:latin typeface="Arial"/>
              </a:rPr>
              <a:t>Size, bedrooms &amp; bathrooms carry the price; metro/schools ≈ 0. A running metro is even slightly cheaper — verified, not a bug.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8887"/>
                </a:solidFill>
                <a:latin typeface="Arial"/>
              </a:rPr>
              <a:t>The Outliers  ·  Mumbai Rent Radar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8A8887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143000"/>
          </a:xfrm>
          <a:prstGeom prst="rect">
            <a:avLst/>
          </a:prstGeom>
          <a:solidFill>
            <a:srgbClr val="009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1800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094E0"/>
                </a:solidFill>
                <a:latin typeface="Arial"/>
              </a:rPr>
              <a:t>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1800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E2A29"/>
                </a:solidFill>
                <a:latin typeface="Arial"/>
              </a:rPr>
              <a:t>We benchmarked seven, and let the best one win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42415"/>
            <a:ext cx="11185855" cy="18288"/>
          </a:xfrm>
          <a:prstGeom prst="rect">
            <a:avLst/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it_mand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256032"/>
            <a:ext cx="684089" cy="548640"/>
          </a:xfrm>
          <a:prstGeom prst="rect">
            <a:avLst/>
          </a:prstGeom>
        </p:spPr>
      </p:pic>
      <p:pic>
        <p:nvPicPr>
          <p:cNvPr id="8" name="Picture 7" descr="06_benchmark_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94985"/>
            <a:ext cx="7040880" cy="36680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0" y="1554480"/>
            <a:ext cx="4114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00943E"/>
                </a:solidFill>
                <a:latin typeface="Arial"/>
              </a:rPr>
              <a:t>▸  </a:t>
            </a:r>
            <a:r>
              <a:rPr sz="1400" b="1" i="0">
                <a:solidFill>
                  <a:srgbClr val="2E2A29"/>
                </a:solidFill>
                <a:latin typeface="Arial"/>
              </a:rPr>
              <a:t>Random Forest wins  </a:t>
            </a:r>
            <a:r>
              <a:rPr sz="1400" b="0" i="0">
                <a:solidFill>
                  <a:srgbClr val="4D4948"/>
                </a:solidFill>
                <a:latin typeface="Arial"/>
              </a:rPr>
              <a:t>on unseen flats and on rupee error.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00943E"/>
                </a:solidFill>
                <a:latin typeface="Arial"/>
              </a:rPr>
              <a:t>▸  </a:t>
            </a:r>
            <a:r>
              <a:rPr sz="1400" b="1" i="0">
                <a:solidFill>
                  <a:srgbClr val="2E2A29"/>
                </a:solidFill>
                <a:latin typeface="Arial"/>
              </a:rPr>
              <a:t>It generalises  </a:t>
            </a:r>
            <a:r>
              <a:rPr sz="1400" b="0" i="0">
                <a:solidFill>
                  <a:srgbClr val="4D4948"/>
                </a:solidFill>
                <a:latin typeface="Arial"/>
              </a:rPr>
              <a:t>cross-validation R² ≈ test R².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00943E"/>
                </a:solidFill>
                <a:latin typeface="Arial"/>
              </a:rPr>
              <a:t>▸  </a:t>
            </a:r>
            <a:r>
              <a:rPr sz="1400" b="1" i="0">
                <a:solidFill>
                  <a:srgbClr val="2E2A29"/>
                </a:solidFill>
                <a:latin typeface="Arial"/>
              </a:rPr>
              <a:t>One final model  </a:t>
            </a:r>
            <a:r>
              <a:rPr sz="1400" b="0" i="0">
                <a:solidFill>
                  <a:srgbClr val="4D4948"/>
                </a:solidFill>
                <a:latin typeface="Arial"/>
              </a:rPr>
              <a:t>chosen honestly from the field.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20624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00943E"/>
                </a:solidFill>
                <a:latin typeface="Arial"/>
              </a:rPr>
              <a:t>0.70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77316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D4948"/>
                </a:solidFill>
                <a:latin typeface="Arial"/>
              </a:rPr>
              <a:t>R² (unseen)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420624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67817"/>
                </a:solidFill>
                <a:latin typeface="Arial"/>
              </a:rPr>
              <a:t>27%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477316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D4948"/>
                </a:solidFill>
                <a:latin typeface="Arial"/>
              </a:rPr>
              <a:t>typical error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8887"/>
                </a:solidFill>
                <a:latin typeface="Arial"/>
              </a:rPr>
              <a:t>The Outliers  ·  Mumbai Rent Radar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8A8887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143000"/>
          </a:xfrm>
          <a:prstGeom prst="rect">
            <a:avLst/>
          </a:prstGeom>
          <a:solidFill>
            <a:srgbClr val="E67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1800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67817"/>
                </a:solidFill>
                <a:latin typeface="Arial"/>
              </a:rPr>
              <a:t>HONESTY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1800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E2A29"/>
                </a:solidFill>
                <a:latin typeface="Arial"/>
              </a:rPr>
              <a:t>Reliable for the mass market, loose for luxury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42415"/>
            <a:ext cx="11185855" cy="18288"/>
          </a:xfrm>
          <a:prstGeom prst="rect">
            <a:avLst/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it_mand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256032"/>
            <a:ext cx="684089" cy="548640"/>
          </a:xfrm>
          <a:prstGeom prst="rect">
            <a:avLst/>
          </a:prstGeom>
        </p:spPr>
      </p:pic>
      <p:pic>
        <p:nvPicPr>
          <p:cNvPr id="8" name="Picture 7" descr="08_error_by_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35725"/>
            <a:ext cx="5943600" cy="2895108"/>
          </a:xfrm>
          <a:prstGeom prst="rect">
            <a:avLst/>
          </a:prstGeom>
        </p:spPr>
      </p:pic>
      <p:pic>
        <p:nvPicPr>
          <p:cNvPr id="9" name="Picture 8" descr="08_calib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697355"/>
            <a:ext cx="5394960" cy="3371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4406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4D4948"/>
                </a:solidFill>
                <a:latin typeface="Arial"/>
              </a:rPr>
              <a:t>Under ₹1L the model is dependable; above ₹2L it under-predicts a thin, unique tail — a known, safe bias.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8887"/>
                </a:solidFill>
                <a:latin typeface="Arial"/>
              </a:rPr>
              <a:t>The Outliers  ·  Mumbai Rent Radar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8A8887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143000"/>
          </a:xfrm>
          <a:prstGeom prst="rect">
            <a:avLst/>
          </a:prstGeom>
          <a:solidFill>
            <a:srgbClr val="009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1800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0943E"/>
                </a:solidFill>
                <a:latin typeface="Arial"/>
              </a:rPr>
              <a:t>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1800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E2A29"/>
                </a:solidFill>
                <a:latin typeface="Arial"/>
              </a:rPr>
              <a:t>A mispriced-listing radar for renters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42415"/>
            <a:ext cx="11185855" cy="18288"/>
          </a:xfrm>
          <a:prstGeom prst="rect">
            <a:avLst/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it_mand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256032"/>
            <a:ext cx="684089" cy="548640"/>
          </a:xfrm>
          <a:prstGeom prst="rect">
            <a:avLst/>
          </a:prstGeom>
        </p:spPr>
      </p:pic>
      <p:pic>
        <p:nvPicPr>
          <p:cNvPr id="8" name="Picture 7" descr="08_mispriced_dete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783079"/>
            <a:ext cx="5943600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1554480"/>
            <a:ext cx="53035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00943E"/>
                </a:solidFill>
                <a:latin typeface="Arial"/>
              </a:rPr>
              <a:t>▸  </a:t>
            </a:r>
            <a:r>
              <a:rPr sz="1500" b="1" i="0">
                <a:solidFill>
                  <a:srgbClr val="2E2A29"/>
                </a:solidFill>
                <a:latin typeface="Arial"/>
              </a:rPr>
              <a:t>The gap is the signal  </a:t>
            </a:r>
            <a:r>
              <a:rPr sz="1500" b="0" i="0">
                <a:solidFill>
                  <a:srgbClr val="4D4948"/>
                </a:solidFill>
                <a:latin typeface="Arial"/>
              </a:rPr>
              <a:t>listed rent vs the model's fair rent.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00943E"/>
                </a:solidFill>
                <a:latin typeface="Arial"/>
              </a:rPr>
              <a:t>▸  </a:t>
            </a:r>
            <a:r>
              <a:rPr sz="1500" b="1" i="0">
                <a:solidFill>
                  <a:srgbClr val="2E2A29"/>
                </a:solidFill>
                <a:latin typeface="Arial"/>
              </a:rPr>
              <a:t>Bargains below the line  </a:t>
            </a:r>
            <a:r>
              <a:rPr sz="1500" b="0" i="0">
                <a:solidFill>
                  <a:srgbClr val="4D4948"/>
                </a:solidFill>
                <a:latin typeface="Arial"/>
              </a:rPr>
              <a:t>overpriced above it.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00943E"/>
                </a:solidFill>
                <a:latin typeface="Arial"/>
              </a:rPr>
              <a:t>▸  </a:t>
            </a:r>
            <a:r>
              <a:rPr sz="1500" b="1" i="0">
                <a:solidFill>
                  <a:srgbClr val="2E2A29"/>
                </a:solidFill>
                <a:latin typeface="Arial"/>
              </a:rPr>
              <a:t>Ready to ship  </a:t>
            </a:r>
            <a:r>
              <a:rPr sz="1500" b="0" i="0">
                <a:solidFill>
                  <a:srgbClr val="4D4948"/>
                </a:solidFill>
                <a:latin typeface="Arial"/>
              </a:rPr>
              <a:t>the fastest win for a pricing team.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2194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67817"/>
                </a:solidFill>
                <a:latin typeface="Arial"/>
              </a:rPr>
              <a:t>221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6460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D4948"/>
                </a:solidFill>
                <a:latin typeface="Arial"/>
              </a:rPr>
              <a:t>flagged overpriced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4297680"/>
            <a:ext cx="2194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00943E"/>
                </a:solidFill>
                <a:latin typeface="Arial"/>
              </a:rPr>
              <a:t>117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486460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D4948"/>
                </a:solidFill>
                <a:latin typeface="Arial"/>
              </a:rPr>
              <a:t>bargains found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8887"/>
                </a:solidFill>
                <a:latin typeface="Arial"/>
              </a:rPr>
              <a:t>The Outliers  ·  Mumbai Rent Radar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8A8887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143000"/>
          </a:xfrm>
          <a:prstGeom prst="rect">
            <a:avLst/>
          </a:prstGeom>
          <a:solidFill>
            <a:srgbClr val="009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1800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094E0"/>
                </a:solidFill>
                <a:latin typeface="Arial"/>
              </a:rPr>
              <a:t>WHAT DRIVES 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1800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E2A29"/>
                </a:solidFill>
                <a:latin typeface="Arial"/>
              </a:rPr>
              <a:t>Size first — and what an upgrade is worth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42415"/>
            <a:ext cx="11185855" cy="18288"/>
          </a:xfrm>
          <a:prstGeom prst="rect">
            <a:avLst/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it_mand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256032"/>
            <a:ext cx="684089" cy="548640"/>
          </a:xfrm>
          <a:prstGeom prst="rect">
            <a:avLst/>
          </a:prstGeom>
        </p:spPr>
      </p:pic>
      <p:pic>
        <p:nvPicPr>
          <p:cNvPr id="8" name="Picture 7" descr="09_permutation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83080"/>
            <a:ext cx="5943600" cy="3200400"/>
          </a:xfrm>
          <a:prstGeom prst="rect">
            <a:avLst/>
          </a:prstGeom>
        </p:spPr>
      </p:pic>
      <p:pic>
        <p:nvPicPr>
          <p:cNvPr id="9" name="Picture 8" descr="09_what_is_it_wor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984529"/>
            <a:ext cx="5577840" cy="27975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4406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4D4948"/>
                </a:solidFill>
                <a:latin typeface="Arial"/>
              </a:rPr>
              <a:t>Adding 250 sq ft beats an extra bedroom, a bathroom, or a jump to a top-tier locality. Location sets the baseline; size sets the price.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8887"/>
                </a:solidFill>
                <a:latin typeface="Arial"/>
              </a:rPr>
              <a:t>The Outliers  ·  Mumbai Rent Radar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8A8887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143000"/>
          </a:xfrm>
          <a:prstGeom prst="rect">
            <a:avLst/>
          </a:prstGeom>
          <a:solidFill>
            <a:srgbClr val="009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1800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0943E"/>
                </a:solidFill>
                <a:latin typeface="Arial"/>
              </a:rP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1800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E2A29"/>
                </a:solidFill>
                <a:latin typeface="Arial"/>
              </a:rPr>
              <a:t>What NoBroker's pricing team should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42415"/>
            <a:ext cx="11185855" cy="18288"/>
          </a:xfrm>
          <a:prstGeom prst="rect">
            <a:avLst/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it_mand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256032"/>
            <a:ext cx="684089" cy="548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417320"/>
            <a:ext cx="67665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00943E"/>
                </a:solidFill>
                <a:latin typeface="Arial"/>
              </a:rPr>
              <a:t>▸  </a:t>
            </a:r>
            <a:r>
              <a:rPr sz="1500" b="1" i="0">
                <a:solidFill>
                  <a:srgbClr val="2E2A29"/>
                </a:solidFill>
                <a:latin typeface="Arial"/>
              </a:rPr>
              <a:t>Ship for the mass market (&lt;₹1L)  </a:t>
            </a:r>
            <a:r>
              <a:rPr sz="1500" b="0" i="0">
                <a:solidFill>
                  <a:srgbClr val="4D4948"/>
                </a:solidFill>
                <a:latin typeface="Arial"/>
              </a:rPr>
              <a:t>— reliable, and where most renters are.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00943E"/>
                </a:solidFill>
                <a:latin typeface="Arial"/>
              </a:rPr>
              <a:t>▸  </a:t>
            </a:r>
            <a:r>
              <a:rPr sz="1500" b="1" i="0">
                <a:solidFill>
                  <a:srgbClr val="2E2A29"/>
                </a:solidFill>
                <a:latin typeface="Arial"/>
              </a:rPr>
              <a:t>Launch the mispriced detector  </a:t>
            </a:r>
            <a:r>
              <a:rPr sz="1500" b="0" i="0">
                <a:solidFill>
                  <a:srgbClr val="4D4948"/>
                </a:solidFill>
                <a:latin typeface="Arial"/>
              </a:rPr>
              <a:t>— 338 flags on the test set alone.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00943E"/>
                </a:solidFill>
                <a:latin typeface="Arial"/>
              </a:rPr>
              <a:t>▸  </a:t>
            </a:r>
            <a:r>
              <a:rPr sz="1500" b="1" i="0">
                <a:solidFill>
                  <a:srgbClr val="2E2A29"/>
                </a:solidFill>
                <a:latin typeface="Arial"/>
              </a:rPr>
              <a:t>Price by size first  </a:t>
            </a:r>
            <a:r>
              <a:rPr sz="1500" b="0" i="0">
                <a:solidFill>
                  <a:srgbClr val="4D4948"/>
                </a:solidFill>
                <a:latin typeface="Arial"/>
              </a:rPr>
              <a:t>— don't pay up for metro/amenity flags.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00943E"/>
                </a:solidFill>
                <a:latin typeface="Arial"/>
              </a:rPr>
              <a:t>▸  </a:t>
            </a:r>
            <a:r>
              <a:rPr sz="1500" b="1" i="0">
                <a:solidFill>
                  <a:srgbClr val="2E2A29"/>
                </a:solidFill>
                <a:latin typeface="Arial"/>
              </a:rPr>
              <a:t>Refresh the data  </a:t>
            </a:r>
            <a:r>
              <a:rPr sz="1500" b="0" i="0">
                <a:solidFill>
                  <a:srgbClr val="4D4948"/>
                </a:solidFill>
                <a:latin typeface="Arial"/>
              </a:rPr>
              <a:t>— it's one snapshot; watch for drift.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00943E"/>
                </a:solidFill>
                <a:latin typeface="Arial"/>
              </a:rPr>
              <a:t>▸  </a:t>
            </a:r>
            <a:r>
              <a:rPr sz="1500" b="1" i="0">
                <a:solidFill>
                  <a:srgbClr val="2E2A29"/>
                </a:solidFill>
                <a:latin typeface="Arial"/>
              </a:rPr>
              <a:t>Better features, not more rows  </a:t>
            </a:r>
            <a:r>
              <a:rPr sz="1500" b="0" i="0">
                <a:solidFill>
                  <a:srgbClr val="4D4948"/>
                </a:solidFill>
                <a:latin typeface="Arial"/>
              </a:rPr>
              <a:t>— the learning curve is flat.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463040"/>
            <a:ext cx="4206240" cy="2743200"/>
          </a:xfrm>
          <a:prstGeom prst="rect">
            <a:avLst/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E67817"/>
                </a:solidFill>
                <a:latin typeface="Arial"/>
              </a:rPr>
              <a:t>THE AI MOMENT WE CAUGHT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057400"/>
            <a:ext cx="3749039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2E2A29"/>
                </a:solidFill>
                <a:latin typeface="Arial"/>
              </a:rPr>
              <a:t>An early model scored R² &gt; 0.9.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4D4948"/>
                </a:solidFill>
                <a:latin typeface="Arial"/>
              </a:rPr>
              <a:t>That was the tell — we traced it to a data leak and removed it.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1">
                <a:solidFill>
                  <a:srgbClr val="4D4948"/>
                </a:solidFill>
                <a:latin typeface="Arial"/>
              </a:rPr>
              <a:t>AI drafts fast; we verify before shipping.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4389120"/>
            <a:ext cx="4206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00943E"/>
                </a:solidFill>
                <a:latin typeface="Arial"/>
              </a:rPr>
              <a:t>Bottom line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1">
                <a:solidFill>
                  <a:srgbClr val="4D4948"/>
                </a:solidFill>
                <a:latin typeface="Arial"/>
              </a:rPr>
              <a:t>Mumbai rent is about how big, not just where. Ship the estimate, flag the mispriced, price by size.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8887"/>
                </a:solidFill>
                <a:latin typeface="Arial"/>
              </a:rPr>
              <a:t>The Outliers  ·  Mumbai Rent Radar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8A8887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658</Words>
  <Application>Microsoft Office PowerPoint</Application>
  <PresentationFormat>Widescreen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Sudarshan S</cp:lastModifiedBy>
  <cp:revision>3</cp:revision>
  <dcterms:created xsi:type="dcterms:W3CDTF">2013-01-27T09:14:16Z</dcterms:created>
  <dcterms:modified xsi:type="dcterms:W3CDTF">2026-07-27T04:42:23Z</dcterms:modified>
  <cp:category/>
</cp:coreProperties>
</file>